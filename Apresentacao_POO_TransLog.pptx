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2D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109728" cy="1828800"/>
          </a:xfrm>
          <a:prstGeom prst="rect">
            <a:avLst/>
          </a:prstGeom>
          <a:solidFill>
            <a:srgbClr val="D4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4A437"/>
                </a:solidFill>
                <a:latin typeface="Calibri"/>
              </a:rPr>
              <a:t>PROJETO INTEGRADOR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FAM 2026.1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MAIO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28016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0">
                <a:solidFill>
                  <a:srgbClr val="2D1B4E"/>
                </a:solidFill>
                <a:latin typeface="Impact"/>
              </a:rPr>
              <a:t>SISTEMA 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96596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0">
                <a:solidFill>
                  <a:srgbClr val="2D1B4E"/>
                </a:solidFill>
                <a:latin typeface="Impact"/>
              </a:rPr>
              <a:t>GESTÃO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5176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0">
                <a:solidFill>
                  <a:srgbClr val="2D1B4E"/>
                </a:solidFill>
                <a:latin typeface="Impact"/>
              </a:rPr>
              <a:t>LOGÍSTICA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3611880"/>
            <a:ext cx="2286000" cy="38100"/>
          </a:xfrm>
          <a:prstGeom prst="rect">
            <a:avLst/>
          </a:prstGeom>
          <a:solidFill>
            <a:srgbClr val="D4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749039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  <a:latin typeface="Calibri"/>
              </a:rPr>
              <a:t>com precificação inteligente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7548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4A437"/>
                </a:solidFill>
                <a:latin typeface="Calibri"/>
              </a:rPr>
              <a:t>EQUIPE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12064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22E"/>
                </a:solidFill>
                <a:latin typeface="Calibri"/>
              </a:rPr>
              <a:t>Diego Henrique C. Custódio  ·  RA 20240153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1A122E"/>
                </a:solidFill>
                <a:latin typeface="Calibri"/>
              </a:rPr>
              <a:t>Gabriela Andrade Brito  ·  RA 20240868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1A122E"/>
                </a:solidFill>
                <a:latin typeface="Calibri"/>
              </a:rPr>
              <a:t>Leonardo Dos Santos  ·  RA 20221957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1A122E"/>
                </a:solidFill>
                <a:latin typeface="Calibri"/>
              </a:rPr>
              <a:t>Pedro Henrique A. Marcandali  ·  RA 20241595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1A122E"/>
                </a:solidFill>
                <a:latin typeface="Calibri"/>
              </a:rPr>
              <a:t>Vinícius Eduardo da Silva  ·  RA 20240289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>
                <a:solidFill>
                  <a:srgbClr val="2D1B4E"/>
                </a:solidFill>
                <a:latin typeface="Impact"/>
              </a:rPr>
              <a:t>MOTIVAÇÃO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>
                <a:solidFill>
                  <a:srgbClr val="2D1B4E"/>
                </a:solidFill>
                <a:latin typeface="Impact"/>
              </a:rPr>
              <a:t>DESENVOLVIMENTO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521208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22E"/>
                </a:solidFill>
                <a:latin typeface="Calibri"/>
              </a:rPr>
              <a:t>O desenvolvimento do sistema de gestão logística com precificação inteligente surgiu da necessidade de melhorar a organização e a eficiência das operações realizadas por transportadoras. O projeto busca automatizar processos importantes, como gerenciamento de cargas, controle de viagens e cálculo de fretes, reduzindo erros e facilitando o acompanhamento das entregas.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300" b="0">
                <a:solidFill>
                  <a:srgbClr val="1A122E"/>
                </a:solidFill>
                <a:latin typeface="Calibri"/>
              </a:rPr>
              <a:t>A escolha do tema também foi motivada pelo interesse do grupo em áreas relacionadas à logística, tecnologia e gestão de processos, permitindo aplicar conhecimentos adquiridos em uma solução voltada para necessidades reais do mercado.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017520"/>
            <a:ext cx="521208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22E"/>
                </a:solidFill>
                <a:latin typeface="Calibri"/>
              </a:rPr>
              <a:t>Além disso, o projeto possibilita a aplicação prática de conceitos de Programação Orientada a Objetos, arquitetura em camadas, banco de dados e desenvolvimento web, contribuindo para o aprendizado técnico e profissional dos integrantes.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SISTEMA DE GESTÃO LOGÍSTICA  |  FAM 2026.1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888888"/>
                </a:solidFill>
                <a:latin typeface="Calibri"/>
              </a:rPr>
              <a:t>02 / 10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09728" cy="1097280"/>
          </a:xfrm>
          <a:prstGeom prst="rect">
            <a:avLst/>
          </a:prstGeom>
          <a:solidFill>
            <a:srgbClr val="D4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4A437"/>
                </a:solidFill>
                <a:latin typeface="Calibri"/>
              </a:rPr>
              <a:t>O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>
                <a:solidFill>
                  <a:srgbClr val="2D1B4E"/>
                </a:solidFill>
                <a:latin typeface="Impact"/>
              </a:rPr>
              <a:t>APRESENTAÇÃO DO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Sistema web para gestão de transportadoras, com foco em precificação inteligente de fretes.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69620" y="2964180"/>
            <a:ext cx="3520440" cy="2377440"/>
          </a:xfrm>
          <a:prstGeom prst="rect">
            <a:avLst/>
          </a:prstGeom>
          <a:solidFill>
            <a:srgbClr val="CC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926080"/>
            <a:ext cx="352044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926080"/>
            <a:ext cx="3520440" cy="137160"/>
          </a:xfrm>
          <a:prstGeom prst="rect">
            <a:avLst/>
          </a:prstGeom>
          <a:solidFill>
            <a:srgbClr val="D4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461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D1B4E"/>
                </a:solidFill>
                <a:latin typeface="Calibri"/>
              </a:rPr>
              <a:t>Cadastros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94760"/>
            <a:ext cx="3063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555555"/>
                </a:solidFill>
                <a:latin typeface="Calibri"/>
              </a:rPr>
              <a:t>• Clientes e veículos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100" b="0">
                <a:solidFill>
                  <a:srgbClr val="555555"/>
                </a:solidFill>
                <a:latin typeface="Calibri"/>
              </a:rPr>
              <a:t>• Motoristas e rotas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100" b="0">
                <a:solidFill>
                  <a:srgbClr val="555555"/>
                </a:solidFill>
                <a:latin typeface="Calibri"/>
              </a:rPr>
              <a:t>• Cargas e usuários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1500" y="2964180"/>
            <a:ext cx="3520440" cy="2377440"/>
          </a:xfrm>
          <a:prstGeom prst="rect">
            <a:avLst/>
          </a:prstGeom>
          <a:solidFill>
            <a:srgbClr val="CC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926080"/>
            <a:ext cx="352044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2926080"/>
            <a:ext cx="3520440" cy="137160"/>
          </a:xfrm>
          <a:prstGeom prst="rect">
            <a:avLst/>
          </a:prstGeom>
          <a:solidFill>
            <a:srgbClr val="2D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2461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D1B4E"/>
                </a:solidFill>
                <a:latin typeface="Calibri"/>
              </a:rPr>
              <a:t>Operações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94760"/>
            <a:ext cx="3063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555555"/>
                </a:solidFill>
                <a:latin typeface="Calibri"/>
              </a:rPr>
              <a:t>• Planejamento de viagens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100" b="0">
                <a:solidFill>
                  <a:srgbClr val="555555"/>
                </a:solidFill>
                <a:latin typeface="Calibri"/>
              </a:rPr>
              <a:t>• Execução e status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100" b="0">
                <a:solidFill>
                  <a:srgbClr val="555555"/>
                </a:solidFill>
                <a:latin typeface="Calibri"/>
              </a:rPr>
              <a:t>• Histórico de fretes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3379" y="2964180"/>
            <a:ext cx="3520440" cy="2377440"/>
          </a:xfrm>
          <a:prstGeom prst="rect">
            <a:avLst/>
          </a:prstGeom>
          <a:solidFill>
            <a:srgbClr val="CC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2926080"/>
            <a:ext cx="352044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79" y="2926080"/>
            <a:ext cx="3520440" cy="137160"/>
          </a:xfrm>
          <a:prstGeom prst="rect">
            <a:avLst/>
          </a:prstGeom>
          <a:solidFill>
            <a:srgbClr val="6B4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32461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D1B4E"/>
                </a:solidFill>
                <a:latin typeface="Calibri"/>
              </a:rPr>
              <a:t>Precificação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3794760"/>
            <a:ext cx="3063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555555"/>
                </a:solidFill>
                <a:latin typeface="Calibri"/>
              </a:rPr>
              <a:t>• Cálculo automático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100" b="0">
                <a:solidFill>
                  <a:srgbClr val="555555"/>
                </a:solidFill>
                <a:latin typeface="Calibri"/>
              </a:rPr>
              <a:t>• Fórmula multivariada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100" b="0">
                <a:solidFill>
                  <a:srgbClr val="555555"/>
                </a:solidFill>
                <a:latin typeface="Calibri"/>
              </a:rPr>
              <a:t>• Simulação e cenários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577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4A437"/>
                </a:solidFill>
                <a:latin typeface="Calibri"/>
              </a:rPr>
              <a:t>STACK TÉCNICA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97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22E"/>
                </a:solidFill>
                <a:latin typeface="Calibri"/>
              </a:rPr>
              <a:t>Java 21  ·  Spring Boot 3.5  ·  Spring Data JPA  ·  Spring Security + BCrypt  ·  H2 / MySQL  ·  HTML5 + CSS3 + JavaScript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SISTEMA DE GESTÃO LOGÍSTICA  |  FAM 2026.1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888888"/>
                </a:solidFill>
                <a:latin typeface="Calibri"/>
              </a:rPr>
              <a:t>03 / 10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09728" cy="1097280"/>
          </a:xfrm>
          <a:prstGeom prst="rect">
            <a:avLst/>
          </a:prstGeom>
          <a:solidFill>
            <a:srgbClr val="D4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4A437"/>
                </a:solidFill>
                <a:latin typeface="Calibri"/>
              </a:rPr>
              <a:t>MODELAGEM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>
                <a:solidFill>
                  <a:srgbClr val="2D1B4E"/>
                </a:solidFill>
                <a:latin typeface="Impact"/>
              </a:rPr>
              <a:t>DIAGRAMA DE CLASSES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rama_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057400"/>
            <a:ext cx="6330430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0807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555555"/>
                </a:solidFill>
                <a:latin typeface="Calibri"/>
              </a:rPr>
              <a:t>8 entidades JPA  ·  Viagem como classe central  ·  Multiplicidades indicadas nas relações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SISTEMA DE GESTÃO LOGÍSTICA  |  FAM 2026.1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888888"/>
                </a:solidFill>
                <a:latin typeface="Calibri"/>
              </a:rPr>
              <a:t>04 / 10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09728" cy="1097280"/>
          </a:xfrm>
          <a:prstGeom prst="rect">
            <a:avLst/>
          </a:prstGeom>
          <a:solidFill>
            <a:srgbClr val="D4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4A437"/>
                </a:solidFill>
                <a:latin typeface="Calibri"/>
              </a:rPr>
              <a:t>BANCO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>
                <a:solidFill>
                  <a:srgbClr val="2D1B4E"/>
                </a:solidFill>
                <a:latin typeface="Impact"/>
              </a:rPr>
              <a:t>MODELO RELACIONAL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457200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91440" cy="4297680"/>
          </a:xfrm>
          <a:prstGeom prst="rect">
            <a:avLst/>
          </a:prstGeom>
          <a:solidFill>
            <a:srgbClr val="D4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4A437"/>
                </a:solidFill>
                <a:latin typeface="Calibri"/>
              </a:rPr>
              <a:t>Resp.  Gabriela Andrade Brito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22E"/>
                </a:solidFill>
                <a:latin typeface="Calibri"/>
              </a:rPr>
              <a:t>Banco MySQL contendo tabelas para clientes, veículos, motoristas, viagens e fretes.</a:t>
            </a:r>
          </a:p>
          <a:p>
            <a:pPr algn="l">
              <a:spcBef>
                <a:spcPts val="1400"/>
              </a:spcBef>
            </a:pPr>
            <a:r>
              <a:rPr sz="1200" b="1">
                <a:solidFill>
                  <a:srgbClr val="2D1B4E"/>
                </a:solidFill>
                <a:latin typeface="Calibri"/>
              </a:rPr>
              <a:t>Como funciona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100" b="0">
                <a:solidFill>
                  <a:srgbClr val="1A122E"/>
                </a:solidFill>
                <a:latin typeface="Calibri"/>
              </a:rPr>
              <a:t>Clientes contratam fretes.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00" b="0">
                <a:solidFill>
                  <a:srgbClr val="1A122E"/>
                </a:solidFill>
                <a:latin typeface="Calibri"/>
              </a:rPr>
              <a:t>Veículos realizam viagens.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00" b="0">
                <a:solidFill>
                  <a:srgbClr val="1A122E"/>
                </a:solidFill>
                <a:latin typeface="Calibri"/>
              </a:rPr>
              <a:t>Motoristas conduzem as viagens.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00" b="0">
                <a:solidFill>
                  <a:srgbClr val="1A122E"/>
                </a:solidFill>
                <a:latin typeface="Calibri"/>
              </a:rPr>
              <a:t>Viagens transportam fretes.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</a:pPr>
            <a:r>
              <a:rPr sz="1100" b="0">
                <a:solidFill>
                  <a:srgbClr val="555555"/>
                </a:solidFill>
                <a:latin typeface="Calibri"/>
              </a:rPr>
              <a:t>A organização permite cadastro, consulta e controle das operações com segurança, abrindo caminho para relatórios futuros.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874519"/>
            <a:ext cx="612648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er_dia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011680"/>
            <a:ext cx="5852160" cy="39014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SISTEMA DE GESTÃO LOGÍSTICA  |  FAM 2026.1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888888"/>
                </a:solidFill>
                <a:latin typeface="Calibri"/>
              </a:rPr>
              <a:t>05 / 10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09728" cy="1097280"/>
          </a:xfrm>
          <a:prstGeom prst="rect">
            <a:avLst/>
          </a:prstGeom>
          <a:solidFill>
            <a:srgbClr val="D4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4A437"/>
                </a:solidFill>
                <a:latin typeface="Calibri"/>
              </a:rPr>
              <a:t>REGRAS DE NEGÓCIO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>
                <a:solidFill>
                  <a:srgbClr val="2D1B4E"/>
                </a:solidFill>
                <a:latin typeface="Impact"/>
              </a:rPr>
              <a:t>LÓGICA &amp; PRECIFICAÇÃO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678180" y="1958340"/>
            <a:ext cx="5349240" cy="4297680"/>
          </a:xfrm>
          <a:prstGeom prst="rect">
            <a:avLst/>
          </a:prstGeom>
          <a:solidFill>
            <a:srgbClr val="CC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534924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5349240" cy="137160"/>
          </a:xfrm>
          <a:prstGeom prst="rect">
            <a:avLst/>
          </a:prstGeom>
          <a:solidFill>
            <a:srgbClr val="2D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534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1B4E"/>
                </a:solidFill>
                <a:latin typeface="Calibri"/>
              </a:rPr>
              <a:t>LOGÍSTICA E OPERAÇÕES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5349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D1B4E"/>
                </a:solidFill>
                <a:latin typeface="Calibri"/>
              </a:rPr>
              <a:t>Validações em Viagem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71800"/>
            <a:ext cx="534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Resp.  Leonardo Dos Santos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74720"/>
            <a:ext cx="4800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22E"/>
                </a:solidFill>
                <a:latin typeface="Calibri"/>
              </a:rPr>
              <a:t>✓  Veículo precisa estar DISPONÍVEL para iniciar viagem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200" b="0">
                <a:solidFill>
                  <a:srgbClr val="1A122E"/>
                </a:solidFill>
                <a:latin typeface="Calibri"/>
              </a:rPr>
              <a:t>✓  Peso da carga não pode exceder a capacidade do veículo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200" b="0">
                <a:solidFill>
                  <a:srgbClr val="1A122E"/>
                </a:solidFill>
                <a:latin typeface="Calibri"/>
              </a:rPr>
              <a:t>✓  Toda viagem associada a uma rota válida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</a:pPr>
            <a:r>
              <a:rPr sz="1200" b="1">
                <a:solidFill>
                  <a:srgbClr val="1A122E"/>
                </a:solidFill>
                <a:latin typeface="Calibri"/>
              </a:rPr>
              <a:t>✓  Status segue ciclo: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2D1B4E"/>
                </a:solidFill>
                <a:latin typeface="Consolas"/>
              </a:rPr>
              <a:t>    PLANEJADA  →  EM_TRANSITO  →  ENTREGUE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1740" y="1958340"/>
            <a:ext cx="5349240" cy="4297680"/>
          </a:xfrm>
          <a:prstGeom prst="rect">
            <a:avLst/>
          </a:prstGeom>
          <a:solidFill>
            <a:srgbClr val="CC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920240"/>
            <a:ext cx="534924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920240"/>
            <a:ext cx="5349240" cy="137160"/>
          </a:xfrm>
          <a:prstGeom prst="rect">
            <a:avLst/>
          </a:prstGeom>
          <a:solidFill>
            <a:srgbClr val="D4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240280"/>
            <a:ext cx="534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4A437"/>
                </a:solidFill>
                <a:latin typeface="Calibri"/>
              </a:rPr>
              <a:t>PRECIFICAÇÃO INTELIGENTE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560320"/>
            <a:ext cx="5349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D1B4E"/>
                </a:solidFill>
                <a:latin typeface="Calibri"/>
              </a:rPr>
              <a:t>Cálculo de Frete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971800"/>
            <a:ext cx="534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Resp.  Vinícius Eduardo da Silva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3520440"/>
            <a:ext cx="4800600" cy="640080"/>
          </a:xfrm>
          <a:prstGeom prst="rect">
            <a:avLst/>
          </a:prstGeom>
          <a:solidFill>
            <a:srgbClr val="EF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61188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A122E"/>
                </a:solidFill>
                <a:latin typeface="Consolas"/>
              </a:rPr>
              <a:t>(Fixo + Variável) × Multiplicador × (1 + Margem/100)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389120"/>
            <a:ext cx="4800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22E"/>
                </a:solidFill>
                <a:latin typeface="Calibri"/>
              </a:rPr>
              <a:t>Custo fixo · R$ 150,00 por viagem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100" b="0">
                <a:solidFill>
                  <a:srgbClr val="1A122E"/>
                </a:solidFill>
                <a:latin typeface="Calibri"/>
              </a:rPr>
              <a:t>Combustível · R$ 2,50/km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100" b="0">
                <a:solidFill>
                  <a:srgbClr val="1A122E"/>
                </a:solidFill>
                <a:latin typeface="Calibri"/>
              </a:rPr>
              <a:t>Manutenção · R$ 0,80/km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100" b="0">
                <a:solidFill>
                  <a:srgbClr val="1A122E"/>
                </a:solidFill>
                <a:latin typeface="Calibri"/>
              </a:rPr>
              <a:t>Peso · R$ 0,12/kg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100" b="0">
                <a:solidFill>
                  <a:srgbClr val="1A122E"/>
                </a:solidFill>
                <a:latin typeface="Calibri"/>
              </a:rPr>
              <a:t>Pedágio · informado por rota</a:t>
            </a:r>
          </a:p>
          <a:p>
            <a:pPr algn="l">
              <a:lnSpc>
                <a:spcPct val="140000"/>
              </a:lnSpc>
              <a:spcBef>
                <a:spcPts val="1000"/>
              </a:spcBef>
            </a:pPr>
            <a:r>
              <a:rPr sz="1100" b="1">
                <a:solidFill>
                  <a:srgbClr val="2D1B4E"/>
                </a:solidFill>
                <a:latin typeface="Calibri"/>
              </a:rPr>
              <a:t>Multiplicador  granel 0,9x  →  perigosa 1,6x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SISTEMA DE GESTÃO LOGÍSTICA  |  FAM 2026.1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888888"/>
                </a:solidFill>
                <a:latin typeface="Calibri"/>
              </a:rPr>
              <a:t>06 / 10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D4A437"/>
                </a:solidFill>
                <a:latin typeface="Calibri"/>
              </a:rPr>
              <a:t>AO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1247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0" b="0">
                <a:solidFill>
                  <a:srgbClr val="FFFFFF"/>
                </a:solidFill>
                <a:latin typeface="Impact"/>
              </a:rPr>
              <a:t>DEMONSTRAÇÃO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4480560"/>
            <a:ext cx="1554480" cy="38100"/>
          </a:xfrm>
          <a:prstGeom prst="rect">
            <a:avLst/>
          </a:prstGeom>
          <a:solidFill>
            <a:srgbClr val="D4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DDDDDD"/>
                </a:solidFill>
                <a:latin typeface="Calibri"/>
              </a:rPr>
              <a:t>Login  →  Dashboard  →  Cadastro de Viagem  →  Cálculo de Frete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949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AAAAAA"/>
                </a:solidFill>
                <a:latin typeface="Consolas"/>
              </a:rPr>
              <a:t>localhost:8080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SISTEMA DE GESTÃO LOGÍSTICA  |  FAM 2026.1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888888"/>
                </a:solidFill>
                <a:latin typeface="Calibri"/>
              </a:rPr>
              <a:t>07 / 10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09728" cy="1097280"/>
          </a:xfrm>
          <a:prstGeom prst="rect">
            <a:avLst/>
          </a:prstGeom>
          <a:solidFill>
            <a:srgbClr val="D4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4A437"/>
                </a:solidFill>
                <a:latin typeface="Calibri"/>
              </a:rPr>
              <a:t>METODOLOGIA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>
                <a:solidFill>
                  <a:srgbClr val="2D1B4E"/>
                </a:solidFill>
                <a:latin typeface="Impact"/>
              </a:rPr>
              <a:t>FASES DO PROJETO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460" y="1866900"/>
            <a:ext cx="2212848" cy="4023360"/>
          </a:xfrm>
          <a:prstGeom prst="rect">
            <a:avLst/>
          </a:prstGeom>
          <a:solidFill>
            <a:srgbClr val="CC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2212848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2212848" cy="109728"/>
          </a:xfrm>
          <a:prstGeom prst="rect">
            <a:avLst/>
          </a:prstGeom>
          <a:solidFill>
            <a:srgbClr val="D4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22128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D4A437"/>
                </a:solidFill>
                <a:latin typeface="Impac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1938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D1B4E"/>
                </a:solidFill>
                <a:latin typeface="Calibri"/>
              </a:rPr>
              <a:t>Pesquisa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00400"/>
            <a:ext cx="1938528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555555"/>
                </a:solidFill>
                <a:latin typeface="Calibri"/>
              </a:rPr>
              <a:t>Levantamento de requisitos funcionais e não-funcionais. Análise de viabilidade técnica, econômica e operacional. Documentação inicial em UML.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1028" y="1866900"/>
            <a:ext cx="2212848" cy="4023360"/>
          </a:xfrm>
          <a:prstGeom prst="rect">
            <a:avLst/>
          </a:prstGeom>
          <a:solidFill>
            <a:srgbClr val="CC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52928" y="1828800"/>
            <a:ext cx="2212848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52928" y="1828800"/>
            <a:ext cx="2212848" cy="109728"/>
          </a:xfrm>
          <a:prstGeom prst="rect">
            <a:avLst/>
          </a:prstGeom>
          <a:solidFill>
            <a:srgbClr val="2D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5808" y="2103120"/>
            <a:ext cx="22128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D1B4E"/>
                </a:solidFill>
                <a:latin typeface="Impact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2697480"/>
            <a:ext cx="1938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D1B4E"/>
                </a:solidFill>
                <a:latin typeface="Calibri"/>
              </a:rPr>
              <a:t>Design / Arquitetura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3200400"/>
            <a:ext cx="1938528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555555"/>
                </a:solidFill>
                <a:latin typeface="Calibri"/>
              </a:rPr>
              <a:t>Padrão MVC adotado. Modelagem do banco em DER. Definição das APIs REST para comunicação entre componentes.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49596" y="1866900"/>
            <a:ext cx="2212848" cy="4023360"/>
          </a:xfrm>
          <a:prstGeom prst="rect">
            <a:avLst/>
          </a:prstGeom>
          <a:solidFill>
            <a:srgbClr val="CC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11496" y="1828800"/>
            <a:ext cx="2212848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11496" y="1828800"/>
            <a:ext cx="2212848" cy="109728"/>
          </a:xfrm>
          <a:prstGeom prst="rect">
            <a:avLst/>
          </a:prstGeom>
          <a:solidFill>
            <a:srgbClr val="6B4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94376" y="2103120"/>
            <a:ext cx="22128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6B4FB8"/>
                </a:solidFill>
                <a:latin typeface="Impact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6" y="2697480"/>
            <a:ext cx="1938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D1B4E"/>
                </a:solidFill>
                <a:latin typeface="Calibri"/>
              </a:rPr>
              <a:t>Desenvolvimento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4376" y="3200400"/>
            <a:ext cx="1938528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555555"/>
                </a:solidFill>
                <a:latin typeface="Calibri"/>
              </a:rPr>
              <a:t>Implementação em Java + Spring Boot. Frontend SPA integrado às APIs. Versionamento via Git para trabalho da equipe.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8164" y="1866900"/>
            <a:ext cx="2212848" cy="4023360"/>
          </a:xfrm>
          <a:prstGeom prst="rect">
            <a:avLst/>
          </a:prstGeom>
          <a:solidFill>
            <a:srgbClr val="CC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70064" y="1828800"/>
            <a:ext cx="2212848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70064" y="1828800"/>
            <a:ext cx="2212848" cy="109728"/>
          </a:xfrm>
          <a:prstGeom prst="rect">
            <a:avLst/>
          </a:prstGeom>
          <a:solidFill>
            <a:srgbClr val="D4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52944" y="2103120"/>
            <a:ext cx="22128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D4A437"/>
                </a:solidFill>
                <a:latin typeface="Impact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2697480"/>
            <a:ext cx="1938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D1B4E"/>
                </a:solidFill>
                <a:latin typeface="Calibri"/>
              </a:rPr>
              <a:t>Testes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3200400"/>
            <a:ext cx="1938528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555555"/>
                </a:solidFill>
                <a:latin typeface="Calibri"/>
              </a:rPr>
              <a:t>Testes manuais de todos os fluxos. Validações no backend (regras de negócio). Verificação de integração frontend, backend e banco.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66732" y="1866900"/>
            <a:ext cx="2212848" cy="4023360"/>
          </a:xfrm>
          <a:prstGeom prst="rect">
            <a:avLst/>
          </a:prstGeom>
          <a:solidFill>
            <a:srgbClr val="CC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28632" y="1828800"/>
            <a:ext cx="2212848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28632" y="1828800"/>
            <a:ext cx="2212848" cy="109728"/>
          </a:xfrm>
          <a:prstGeom prst="rect">
            <a:avLst/>
          </a:prstGeom>
          <a:solidFill>
            <a:srgbClr val="2D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11512" y="2103120"/>
            <a:ext cx="22128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D1B4E"/>
                </a:solidFill>
                <a:latin typeface="Impact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1512" y="2697480"/>
            <a:ext cx="1938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D1B4E"/>
                </a:solidFill>
                <a:latin typeface="Calibri"/>
              </a:rPr>
              <a:t>Homologação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1512" y="3200400"/>
            <a:ext cx="1938528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555555"/>
                </a:solidFill>
                <a:latin typeface="Calibri"/>
              </a:rPr>
              <a:t>Aplicação rodando localmente. Documentação final consolidada. Verificação de aceite das funcionalidades solicitadas.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SISTEMA DE GESTÃO LOGÍSTICA  |  FAM 2026.1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465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888888"/>
                </a:solidFill>
                <a:latin typeface="Calibri"/>
              </a:rPr>
              <a:t>08 / 10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09728" cy="1097280"/>
          </a:xfrm>
          <a:prstGeom prst="rect">
            <a:avLst/>
          </a:prstGeom>
          <a:solidFill>
            <a:srgbClr val="D4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4A437"/>
                </a:solidFill>
                <a:latin typeface="Calibri"/>
              </a:rPr>
              <a:t>PLANEJAMENTO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>
                <a:solidFill>
                  <a:srgbClr val="2D1B4E"/>
                </a:solidFill>
                <a:latin typeface="Impact"/>
              </a:rPr>
              <a:t>CRONOGRAMA DE AÇÕES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10972800" cy="384048"/>
          </a:xfrm>
          <a:prstGeom prst="rect">
            <a:avLst/>
          </a:prstGeom>
          <a:solidFill>
            <a:srgbClr val="2D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9383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20" y="1929383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Fase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1929383"/>
            <a:ext cx="3474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1929383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Responsável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1240" y="1929383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258567"/>
            <a:ext cx="109728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31719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22E"/>
                </a:solidFill>
                <a:latin typeface="Calibri"/>
              </a:rPr>
              <a:t>03/03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20" y="2331719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22E"/>
                </a:solidFill>
                <a:latin typeface="Calibri"/>
              </a:rPr>
              <a:t>Pesquisa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331719"/>
            <a:ext cx="3474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22E"/>
                </a:solidFill>
                <a:latin typeface="Calibri"/>
              </a:rPr>
              <a:t>Levantamento de Requisitos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2331719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22E"/>
                </a:solidFill>
                <a:latin typeface="Calibri"/>
              </a:rPr>
              <a:t>Todos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21240" y="2331719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1B4E"/>
                </a:solidFill>
                <a:latin typeface="Calibri"/>
              </a:rPr>
              <a:t>Concluído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642615"/>
            <a:ext cx="10972800" cy="384048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715767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22E"/>
                </a:solidFill>
                <a:latin typeface="Calibri"/>
              </a:rPr>
              <a:t>10/03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20" y="2715767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22E"/>
                </a:solidFill>
                <a:latin typeface="Calibri"/>
              </a:rPr>
              <a:t>Arquitetura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2715767"/>
            <a:ext cx="3474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22E"/>
                </a:solidFill>
                <a:latin typeface="Calibri"/>
              </a:rPr>
              <a:t>Diagramas UML e estrutura inicial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2715767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22E"/>
                </a:solidFill>
                <a:latin typeface="Calibri"/>
              </a:rPr>
              <a:t>Diego / Pedro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2715767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1B4E"/>
                </a:solidFill>
                <a:latin typeface="Calibri"/>
              </a:rPr>
              <a:t>Concluído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026663"/>
            <a:ext cx="109728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099815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22E"/>
                </a:solidFill>
                <a:latin typeface="Calibri"/>
              </a:rPr>
              <a:t>17/03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20" y="3099815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22E"/>
                </a:solidFill>
                <a:latin typeface="Calibri"/>
              </a:rPr>
              <a:t>Arquitetura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099815"/>
            <a:ext cx="3474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22E"/>
                </a:solidFill>
                <a:latin typeface="Calibri"/>
              </a:rPr>
              <a:t>Modelos do banco e conexão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3099815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22E"/>
                </a:solidFill>
                <a:latin typeface="Calibri"/>
              </a:rPr>
              <a:t>Gabriela / Pedro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3099815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1B4E"/>
                </a:solidFill>
                <a:latin typeface="Calibri"/>
              </a:rPr>
              <a:t>Concluído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410711"/>
            <a:ext cx="10972800" cy="384048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483863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22E"/>
                </a:solidFill>
                <a:latin typeface="Calibri"/>
              </a:rPr>
              <a:t>24/03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74520" y="3483863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22E"/>
                </a:solidFill>
                <a:latin typeface="Calibri"/>
              </a:rPr>
              <a:t>Desenvolvimento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200" y="3483863"/>
            <a:ext cx="3474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22E"/>
                </a:solidFill>
                <a:latin typeface="Calibri"/>
              </a:rPr>
              <a:t>Funcionalidades principais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800" y="3483863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22E"/>
                </a:solidFill>
                <a:latin typeface="Calibri"/>
              </a:rPr>
              <a:t>Leonardo / Vinícius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3483863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1B4E"/>
                </a:solidFill>
                <a:latin typeface="Calibri"/>
              </a:rPr>
              <a:t>Concluído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794759"/>
            <a:ext cx="109728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3867911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22E"/>
                </a:solidFill>
                <a:latin typeface="Calibri"/>
              </a:rPr>
              <a:t>31/03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74520" y="3867911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22E"/>
                </a:solidFill>
                <a:latin typeface="Calibri"/>
              </a:rPr>
              <a:t>Desenvolvimento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86200" y="3867911"/>
            <a:ext cx="3474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22E"/>
                </a:solidFill>
                <a:latin typeface="Calibri"/>
              </a:rPr>
              <a:t>APIs e regras de negócio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3800" y="3867911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22E"/>
                </a:solidFill>
                <a:latin typeface="Calibri"/>
              </a:rPr>
              <a:t>Pedro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21240" y="386791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1B4E"/>
                </a:solidFill>
                <a:latin typeface="Calibri"/>
              </a:rPr>
              <a:t>Concluído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4178807"/>
            <a:ext cx="10972800" cy="384048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4251959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22E"/>
                </a:solidFill>
                <a:latin typeface="Calibri"/>
              </a:rPr>
              <a:t>07/04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74520" y="4251959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22E"/>
                </a:solidFill>
                <a:latin typeface="Calibri"/>
              </a:rPr>
              <a:t>Desenvolvimento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86200" y="4251959"/>
            <a:ext cx="3474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22E"/>
                </a:solidFill>
                <a:latin typeface="Calibri"/>
              </a:rPr>
              <a:t>Teste e integração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43800" y="4251959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22E"/>
                </a:solidFill>
                <a:latin typeface="Calibri"/>
              </a:rPr>
              <a:t>Diego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21240" y="4251959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1B4E"/>
                </a:solidFill>
                <a:latin typeface="Calibri"/>
              </a:rPr>
              <a:t>Concluído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4562855"/>
            <a:ext cx="109728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4636007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22E"/>
                </a:solidFill>
                <a:latin typeface="Calibri"/>
              </a:rPr>
              <a:t>14/04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74520" y="4636007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22E"/>
                </a:solidFill>
                <a:latin typeface="Calibri"/>
              </a:rPr>
              <a:t>Testes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86200" y="4636007"/>
            <a:ext cx="3474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22E"/>
                </a:solidFill>
                <a:latin typeface="Calibri"/>
              </a:rPr>
              <a:t>Testes gerais do sistema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43800" y="4636007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22E"/>
                </a:solidFill>
                <a:latin typeface="Calibri"/>
              </a:rPr>
              <a:t>Todos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21240" y="4636007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1B4E"/>
                </a:solidFill>
                <a:latin typeface="Calibri"/>
              </a:rPr>
              <a:t>Concluído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4946903"/>
            <a:ext cx="10972800" cy="384048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" y="5020055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22E"/>
                </a:solidFill>
                <a:latin typeface="Calibri"/>
              </a:rPr>
              <a:t>12/05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74520" y="5020055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22E"/>
                </a:solidFill>
                <a:latin typeface="Calibri"/>
              </a:rPr>
              <a:t>Homologação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86200" y="5020055"/>
            <a:ext cx="3474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22E"/>
                </a:solidFill>
                <a:latin typeface="Calibri"/>
              </a:rPr>
              <a:t>Validação e documentação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43800" y="5020055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22E"/>
                </a:solidFill>
                <a:latin typeface="Calibri"/>
              </a:rPr>
              <a:t>Todos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21240" y="5020055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1B4E"/>
                </a:solidFill>
                <a:latin typeface="Calibri"/>
              </a:rPr>
              <a:t>Concluído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" y="5330951"/>
            <a:ext cx="109728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7240" y="5404103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22E"/>
                </a:solidFill>
                <a:latin typeface="Calibri"/>
              </a:rPr>
              <a:t>19/05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74520" y="5404103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22E"/>
                </a:solidFill>
                <a:latin typeface="Calibri"/>
              </a:rPr>
              <a:t>Final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86200" y="5404103"/>
            <a:ext cx="3474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22E"/>
                </a:solidFill>
                <a:latin typeface="Calibri"/>
              </a:rPr>
              <a:t>Apresentação do projeto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43800" y="5404103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22E"/>
                </a:solidFill>
                <a:latin typeface="Calibri"/>
              </a:rPr>
              <a:t>Todos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21240" y="5404103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4A437"/>
                </a:solidFill>
                <a:latin typeface="Calibri"/>
              </a:rPr>
              <a:t>Em andamento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" y="1874519"/>
            <a:ext cx="10972800" cy="3840480"/>
          </a:xfrm>
          <a:prstGeom prst="rect">
            <a:avLst/>
          </a:prstGeom>
          <a:noFill/>
          <a:ln w="12700">
            <a:solidFill>
              <a:srgbClr val="2D1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SISTEMA DE GESTÃO LOGÍSTICA  |  FAM 2026.1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64465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888888"/>
                </a:solidFill>
                <a:latin typeface="Calibri"/>
              </a:rPr>
              <a:t>09 / 10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0" b="0">
                <a:solidFill>
                  <a:srgbClr val="2D1B4E"/>
                </a:solidFill>
                <a:latin typeface="Impact"/>
              </a:rPr>
              <a:t>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64008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122E"/>
                </a:solidFill>
                <a:latin typeface="Calibri"/>
              </a:rPr>
              <a:t>O sistema de gestão logística com precificação inteligente foi desenvolvido com o objetivo de integrar funcionalidades essenciais para o gerenciamento de operações logísticas, oferecendo mais controle, organização e eficiência nos processos realizados por transportadoras. Através do sistema, é possível automatizar tarefas importantes, como cálculo de fretes, gerenciamento de cargas, controle de viagens e acompanhamento de entregas.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300" b="0">
                <a:solidFill>
                  <a:srgbClr val="1A122E"/>
                </a:solidFill>
                <a:latin typeface="Calibri"/>
              </a:rPr>
              <a:t>Além de atender às necessidades propostas no projeto, o desenvolvimento do sistema também proporcionou aos integrantes a aplicação prática de conhecimentos adquiridos ao longo do curso, envolvendo Programação Orientada a Objetos, banco de dados, desenvolvimento web e integração entre frontend e backend.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2377440"/>
            <a:ext cx="402336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122E"/>
                </a:solidFill>
                <a:latin typeface="Calibri"/>
              </a:rPr>
              <a:t>Dessa forma, o projeto contribui tanto para o aprendizado técnico e profissional da equipe quanto para a criação de uma solução tecnológica alinhada às necessidades atuais do setor logístico, buscando oferecer maior agilidade, precisão e organização nas operações.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SISTEMA DE GESTÃO LOGÍSTICA  |  FAM 2026.1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888888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